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 dirty="0">
                <a:solidFill>
                  <a:srgbClr val="FFFFFF"/>
                </a:solidFill>
                <a:latin typeface="Calibri"/>
              </a:rPr>
              <a:t>Library Book Usage Analysis</a:t>
            </a:r>
            <a:r>
              <a:rPr lang="en-US" sz="4400" b="1" i="0" dirty="0">
                <a:solidFill>
                  <a:srgbClr val="FFFFFF"/>
                </a:solidFill>
                <a:latin typeface="Calibri"/>
              </a:rPr>
              <a:t> System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 dirty="0">
                <a:solidFill>
                  <a:srgbClr val="F1F5F9"/>
                </a:solidFill>
                <a:latin typeface="Calibri"/>
              </a:rPr>
              <a:t>A Modern Library Circulation Management &amp; Usage Analytics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2356468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solidFill>
                  <a:srgbClr val="3B82F6"/>
                </a:solidFill>
                <a:latin typeface="Calibri"/>
              </a:rPr>
              <a:t> </a:t>
            </a:r>
            <a:r>
              <a:rPr lang="en-IN" sz="1600" b="1" dirty="0">
                <a:solidFill>
                  <a:srgbClr val="3B82F6"/>
                </a:solidFill>
              </a:rPr>
              <a:t>Presented by:  </a:t>
            </a:r>
            <a:endParaRPr lang="en-IN" sz="1600" dirty="0">
              <a:solidFill>
                <a:srgbClr val="F1F5F9"/>
              </a:solidFill>
            </a:endParaRPr>
          </a:p>
          <a:p>
            <a:r>
              <a:rPr lang="en-IN" sz="1600" dirty="0">
                <a:solidFill>
                  <a:srgbClr val="F1F5F9"/>
                </a:solidFill>
              </a:rPr>
              <a:t>LEBURU SAI HARSHITHA</a:t>
            </a:r>
          </a:p>
          <a:p>
            <a:r>
              <a:rPr lang="en-IN" sz="1600" dirty="0">
                <a:solidFill>
                  <a:srgbClr val="F1F5F9"/>
                </a:solidFill>
              </a:rPr>
              <a:t>PALLI MANJUNATH REDDY</a:t>
            </a:r>
          </a:p>
          <a:p>
            <a:r>
              <a:rPr lang="en-IN" sz="1600" dirty="0">
                <a:solidFill>
                  <a:srgbClr val="F1F5F9"/>
                </a:solidFill>
              </a:rPr>
              <a:t>NIKHIL JAISWAL</a:t>
            </a:r>
          </a:p>
          <a:p>
            <a:r>
              <a:rPr lang="en-IN" sz="1600" dirty="0">
                <a:solidFill>
                  <a:srgbClr val="F1F5F9"/>
                </a:solidFill>
              </a:rPr>
              <a:t>JAMES UDAY KIRAN</a:t>
            </a:r>
          </a:p>
          <a:p>
            <a:r>
              <a:rPr lang="en-IN" sz="1600" dirty="0">
                <a:solidFill>
                  <a:srgbClr val="F1F5F9"/>
                </a:solidFill>
              </a:rPr>
              <a:t>SHAIK KHARSIDH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600" b="0" i="0" dirty="0">
              <a:solidFill>
                <a:srgbClr val="F1F5F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What the system does and why it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120640" cy="1748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dirty="0">
                <a:solidFill>
                  <a:schemeClr val="bg1"/>
                </a:solidFill>
                <a:latin typeface="Calibri"/>
              </a:rPr>
              <a:t>  Full-stack library circulation management system.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dirty="0">
                <a:solidFill>
                  <a:schemeClr val="bg1"/>
                </a:solidFill>
                <a:latin typeface="Calibri"/>
              </a:rPr>
              <a:t>  Tracks book issues, returns, borrowers, and inventory in real time.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dirty="0">
                <a:solidFill>
                  <a:schemeClr val="bg1"/>
                </a:solidFill>
                <a:latin typeface="Calibri"/>
              </a:rPr>
              <a:t>  Generates usage analytics with interactive charts and statistical reports.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 dirty="0">
                <a:solidFill>
                  <a:schemeClr val="bg1"/>
                </a:solidFill>
                <a:latin typeface="Calibri"/>
              </a:rPr>
              <a:t>  Replaces manual library registers with a digital, searchable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440680" cy="4754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PURPOSE &amp; PAIN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  Manual record errors and lost paperwork eliminated.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  No overdue alerts → automated overdue detection and badges.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  No usage insights → 7 interactive analytics charts + KPIs.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  Slow catalogue search → live search and category filters.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  No inventory visibility → real-time stock pills and allocation.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Backend, Database, Data Analytics, and Frontend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008945"/>
              </p:ext>
            </p:extLst>
          </p:nvPr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Python 3.10+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Core backend logic &amp; transactions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Backend Framework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Flask + Gunicorn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Lightweight WSGI web framework for REST API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MySQL Server 8.0+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Relational data store 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DB Driver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mysql-connector-python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Connects Python to MySQL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python-dotenv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Loads credentials from .env (git-ignored)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Data Analysis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Pandas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Category groupings, monthly circulation trends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Mean, median, std dev, percentiles, IQR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Visualization (Web)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Chart.js (HTML5 Canvas)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7 interactive vector charts — no static images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Visualization (CLI)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Saves static PNG charts to reports_and_charts/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Calibri"/>
                        </a:rPr>
                        <a:t>HTML5, CSS3, JavaScript (SPA)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F172A"/>
                          </a:solidFill>
                          <a:latin typeface="Calibri"/>
                        </a:rPr>
                        <a:t>Glassmorphism</a:t>
                      </a:r>
                      <a:r>
                        <a:rPr sz="1200" b="0" dirty="0">
                          <a:solidFill>
                            <a:srgbClr val="0F172A"/>
                          </a:solidFill>
                          <a:latin typeface="Calibri"/>
                        </a:rPr>
                        <a:t> UI, real-time stats, search filters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MySQL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3 tables created automatically via database.initialize_database()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2044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TABLE: books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48840"/>
          <a:ext cx="3246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book_id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PK, AUTO_INCREMENT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isbn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copies_available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DEFAULT 1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251960" y="1554480"/>
            <a:ext cx="352044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52044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TABLE: borrowers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9120" y="2148840"/>
          <a:ext cx="3246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borrower_id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PK, AUTO_INCREMENT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borrower_name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roll_no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7955279" y="1554480"/>
            <a:ext cx="361188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36118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162763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TABLE: loans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092440" y="2148840"/>
          <a:ext cx="3337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loan_id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PK, AUTO_INCREMENT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book_id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FK → books(book_id)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borrower_id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FK → borrowers(borrower_id)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issue_date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due_date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NOT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return_date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Calibri"/>
                        </a:rPr>
                        <a:t>NULL (active loan)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1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Real-Time KPIs &amp; Active Loans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144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dirty="0">
                <a:solidFill>
                  <a:srgbClr val="F1F5F9"/>
                </a:solidFill>
                <a:latin typeface="Calibri"/>
              </a:rPr>
              <a:t>KPI Tiles: Total Titles, Copies In Stock, Active Loans, Overdue Loans</a:t>
            </a:r>
            <a:endParaRPr lang="en-US" sz="1300" b="0" dirty="0">
              <a:solidFill>
                <a:srgbClr val="F1F5F9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dirty="0">
                <a:solidFill>
                  <a:srgbClr val="F1F5F9"/>
                </a:solidFill>
                <a:latin typeface="Calibri"/>
              </a:rPr>
              <a:t> Active Loans Priority Queue with overdue badges (🔴 Overdue / 🟢 Active).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dirty="0">
                <a:solidFill>
                  <a:srgbClr val="F1F5F9"/>
                </a:solidFill>
                <a:latin typeface="Calibri"/>
              </a:rPr>
              <a:t>Live Chart.js bar chart: Top Borrowed Books.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 dirty="0">
                <a:solidFill>
                  <a:srgbClr val="F1F5F9"/>
                </a:solidFill>
                <a:latin typeface="Calibri"/>
              </a:rPr>
              <a:t>Live Chart.js line chart: Monthly Circulation Trajectory.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HOW IT'S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GET /api/kpis → analytics.get_library_kpis()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GET /api/loans/active → operations.get_active_loans()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GET /api/analytics/popular &amp; /trends → chart data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Overdue = today &gt; due_date (calculated in Python)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Chart.js renders on HTML5 Canvas — no static images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SPA hash routing: view switches without page reload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2 — Book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Search, Filter, and Browse Library Titles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Lists all books: ISBN, title, author, category, available copies.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Instant live search by title, author, or ISBN.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Category filter dropdown (auto-populated from DB).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Stock pills: ● In Stock (green) / ● Out of Stock (red).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Quick Issue shortcut → pre-selects book in Circulation Desk.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HOW IT'S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GET /api/books → SELECT * FROM books ORDER BY book_id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Frontend filters locally (filterBooks()) for instant response.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Category list built dynamically from book records.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quickIssueBook(id) switches view and auto-selects the book.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Built with operations.get_all_books() in backend.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3 — Add New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Dedicated Registration with Live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Form: ISBN, Title, Author, Category, Available Copies.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Category autocomplete datalist (CS, Fiction, Science, Math…).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Live Shelf Preview Card updates as you type.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Instant save to database and catalogue refresh.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Duplicate ISBN is rejected with a clear error message.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HOW IT'S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updateLiveBookPreview() reads inputs on every keystroke.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POST /api/books → JSON body → operations.add_book().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Backend validates non-empty fields + unique ISBN constraint.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SQL: INSERT INTO books (isbn, title, author, category, copies_available)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On success: toast notification + loadBooks() refreshes catalogue.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4 — Borrowers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Member Registration &amp;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Searchable roster by borrower name or roll number.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Register new borrower via modal (name + roll no).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Direct checkout: “Issue Book To Member →” pre-selects member.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Unique roll number enforcement (no duplicates).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HOW IT'S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GET /api/borrowers → SELECT borrower_id, name, roll_no FROM borrowers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POST /api/borrowers → INSERT INTO borrowers (borrower_name, roll_no)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Duplicate roll_no caught via MySQL unique constraint.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filterBorrowers() runs client-side for instant search.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quickIssueToBorrower(id) auto-fills borrower in issue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5 — Circulation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Issue Books &amp; Process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ISSUE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Dropdown shows only in-stock books (copies_available &gt; 0).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Borrower picker, issue date, configurable loan period (default 14 days).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Atomic transaction: insert loan + decrement copies.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Rollback if stock insufficient during checkout.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4068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RETURN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Active loans table with overdue alerts and badges.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1-click Return Check-in modal with date validation.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Rejects: missing loan, already returned, return &lt; issue date.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  Increments copies_available; flags late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Feature 6 — Analytics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7 Interactive Chart.js Visuals + Pandas Tables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Logic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Top Most-Borrowed Books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Horizontal Bar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SQL GROUP BY + COUNT, Pandas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Monthly Circulation Trajectory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Multi-line Area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Pandas groupby Year-Month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Circulation Share by Genre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Doughnut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Pandas category share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Loan Duration Distribution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Histogram Bar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NumPy bins: 1-7d, 8-14d, 15-21d, 22+d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Most Active Borrowers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Bar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SQL COUNT loans per borrower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Inventory Allocation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Doughnut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Available vs on-loan copies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Return Punctuality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Doughnut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F172A"/>
                          </a:solidFill>
                          <a:latin typeface="Calibri"/>
                        </a:rPr>
                        <a:t>On-time vs late vs active vs overdue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NumPy Statistics (CLI mode): 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Mean, median, standard deviation, min, max, Q1/Q3, IQR of completed loan durations.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Pandas Data Tables: 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Top Borrowed Books leaderboard, Category circulation summary, Monthly loan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REST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All endpoints return JSON with consistent error format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Health check &amp; DB backend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/api/kpis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Headline circulation &amp; stock KPIs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/api/books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List all books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/api/books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Add new book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/api/borrowers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List all borrowers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/api/borrowers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Register borrower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/api/loans/active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Active loans with overdue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/api/loans/issue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Issue a book to a borrower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/api/loans/return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Record a book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/api/analytics/popular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Most-borrowed books leaderboard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/api/analytics/categories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Category circulation summary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/api/analytics/trends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Monthly borrowing trajectory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/api/analytics/statistics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NumPy loan duration statistics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/api/analytics/punctuality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Return timeliness breakdown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/api/seed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Reset &amp; reload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Project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Organized backend modules + frontend SPA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30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config.py            MySQL settings from .env + loan rules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database.py          MySQL connection + schema initialization (3 tables)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operations.py        CRUD + issue/return business logic + atomic transactions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analytics.py         Pandas grouping, NumPy stats, Matplotlib charts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seed_data.py         Sample data generator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server.py            Flask app, REST routes, static file serving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solidFill>
                  <a:srgbClr val="0F172A"/>
                </a:solidFill>
                <a:latin typeface="Calibri"/>
              </a:rPr>
              <a:t>main.py              Terminal CLI menu + automated demo runner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requirements.txt     Python dependencies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.</a:t>
            </a:r>
            <a:r>
              <a:rPr sz="1350" b="1" i="0" dirty="0" err="1">
                <a:latin typeface="Calibri"/>
              </a:rPr>
              <a:t>env.example</a:t>
            </a:r>
            <a:r>
              <a:rPr sz="1350" b="1" i="0" dirty="0">
                <a:latin typeface="Calibri"/>
              </a:rPr>
              <a:t>         Template (no secrets committed)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.</a:t>
            </a:r>
            <a:r>
              <a:rPr sz="1350" b="1" i="0" dirty="0" err="1">
                <a:latin typeface="Calibri"/>
              </a:rPr>
              <a:t>gitignore</a:t>
            </a:r>
            <a:r>
              <a:rPr sz="1350" b="1" i="0" dirty="0">
                <a:latin typeface="Calibri"/>
              </a:rPr>
              <a:t>           Excludes .env, __</a:t>
            </a:r>
            <a:r>
              <a:rPr sz="1350" b="1" i="0" dirty="0" err="1">
                <a:latin typeface="Calibri"/>
              </a:rPr>
              <a:t>pycache</a:t>
            </a:r>
            <a:r>
              <a:rPr sz="1350" b="1" i="0" dirty="0">
                <a:latin typeface="Calibri"/>
              </a:rPr>
              <a:t>__, charts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README.md            Documentation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static/index.html    6-view SPA: dashboard, books, </a:t>
            </a:r>
            <a:r>
              <a:rPr sz="1350" b="1" i="0" dirty="0" err="1">
                <a:latin typeface="Calibri"/>
              </a:rPr>
              <a:t>addBook</a:t>
            </a:r>
            <a:r>
              <a:rPr sz="1350" b="1" i="0" dirty="0">
                <a:latin typeface="Calibri"/>
              </a:rPr>
              <a:t>, borrowers, circulation, analytics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static/</a:t>
            </a:r>
            <a:r>
              <a:rPr sz="1350" b="1" i="0" dirty="0" err="1">
                <a:latin typeface="Calibri"/>
              </a:rPr>
              <a:t>css</a:t>
            </a:r>
            <a:r>
              <a:rPr sz="1350" b="1" i="0" dirty="0">
                <a:latin typeface="Calibri"/>
              </a:rPr>
              <a:t>/style.css </a:t>
            </a:r>
            <a:r>
              <a:rPr sz="1350" b="1" i="0" dirty="0" err="1">
                <a:latin typeface="Calibri"/>
              </a:rPr>
              <a:t>Glassmorphism</a:t>
            </a:r>
            <a:r>
              <a:rPr sz="1350" b="1" i="0" dirty="0">
                <a:latin typeface="Calibri"/>
              </a:rPr>
              <a:t> design system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 dirty="0">
                <a:latin typeface="Calibri"/>
              </a:rPr>
              <a:t>static/</a:t>
            </a:r>
            <a:r>
              <a:rPr sz="1350" b="1" i="0" dirty="0" err="1">
                <a:latin typeface="Calibri"/>
              </a:rPr>
              <a:t>js</a:t>
            </a:r>
            <a:r>
              <a:rPr sz="1350" b="1" i="0" dirty="0">
                <a:latin typeface="Calibri"/>
              </a:rPr>
              <a:t>/app.js     Chart.js rendering, API fetch layer, routing,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How to Run (Local Setup)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Prerequisites: Python 3.10+ and MySQL Server 8.0+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Clone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git clone &lt;repo-url&gt; &amp;&amp; cd library-book-management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134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Install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260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Configure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Copy .env.example → .env; add MySQL host/user/password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850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118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Load sample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576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python seed_data.py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3708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976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Start web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434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python server.py  →  http://127.0.0.1:8000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4572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05663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9834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Or run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292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python main.py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43F5E"/>
                </a:solidFill>
                <a:latin typeface="Calibri"/>
              </a:rPr>
              <a:t>Note: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.env is git-ignored — never commit real passwords. Tables are created automatically on first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Library Book Management System  |  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1781</Words>
  <Application>Microsoft Office PowerPoint</Application>
  <PresentationFormat>Widescreen</PresentationFormat>
  <Paragraphs>329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Pragati Jaiswal</cp:lastModifiedBy>
  <cp:revision>2</cp:revision>
  <dcterms:created xsi:type="dcterms:W3CDTF">2013-01-27T09:14:16Z</dcterms:created>
  <dcterms:modified xsi:type="dcterms:W3CDTF">2026-10-20T06:17:47Z</dcterms:modified>
  <cp:category/>
</cp:coreProperties>
</file>